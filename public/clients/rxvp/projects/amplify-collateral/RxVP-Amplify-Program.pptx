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2386584"/>
          </a:xfrm>
          <a:prstGeom prst="rect">
            <a:avLst/>
          </a:prstGeom>
          <a:solidFill>
            <a:srgbClr val="190B20"/>
          </a:solidFill>
          <a:ln w="12700">
            <a:solidFill>
              <a:srgbClr val="190B20">
                <a:alpha val="0"/>
              </a:srgbClr>
            </a:solidFill>
            <a:prstDash val="solid"/>
          </a:ln>
        </p:spPr>
      </p:sp>
      <p:pic>
        <p:nvPicPr>
          <p:cNvPr id="3" name="Image 0" descr="/Users/gabriel/Documents/3 - Perso/Finances/Dev/clients-playground/outputs/amplify-reexport-scratch/top-woman-hero-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772400" cy="238658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874520" y="109728"/>
            <a:ext cx="5550408" cy="265176"/>
          </a:xfrm>
          <a:prstGeom prst="rect">
            <a:avLst/>
          </a:prstGeom>
          <a:solidFill>
            <a:srgbClr val="3B0648"/>
          </a:solidFill>
          <a:ln w="12700">
            <a:solidFill>
              <a:srgbClr val="3B0648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874520" y="109728"/>
            <a:ext cx="27432" cy="265176"/>
          </a:xfrm>
          <a:prstGeom prst="rect">
            <a:avLst/>
          </a:prstGeom>
          <a:solidFill>
            <a:srgbClr val="C9A532"/>
          </a:solidFill>
          <a:ln w="12700">
            <a:solidFill>
              <a:srgbClr val="C9A532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97496" y="109728"/>
            <a:ext cx="27432" cy="265176"/>
          </a:xfrm>
          <a:prstGeom prst="rect">
            <a:avLst/>
          </a:prstGeom>
          <a:solidFill>
            <a:srgbClr val="C9A532"/>
          </a:solidFill>
          <a:ln w="12700">
            <a:solidFill>
              <a:srgbClr val="C9A532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993392" y="164592"/>
            <a:ext cx="5285232" cy="1188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3DC7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FIRST AND ONLY SPEAKER'S BUREAU IN LIFE SCIENCES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475488" y="694944"/>
            <a:ext cx="260604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E6CF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PROUDLY PRESENTS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475488" y="896112"/>
            <a:ext cx="3063240" cy="51206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AMPLIFY</a:t>
            </a:r>
            <a:endParaRPr lang="en-US" sz="4800" dirty="0"/>
          </a:p>
        </p:txBody>
      </p:sp>
      <p:sp>
        <p:nvSpPr>
          <p:cNvPr id="10" name="Text 7"/>
          <p:cNvSpPr/>
          <p:nvPr/>
        </p:nvSpPr>
        <p:spPr>
          <a:xfrm>
            <a:off x="475488" y="1444752"/>
            <a:ext cx="3127248" cy="56692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Executive presence and high-impact</a:t>
            </a:r>
            <a:endParaRPr lang="en-US" sz="1450" dirty="0"/>
          </a:p>
          <a:p>
            <a:pPr algn="l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public speaking for life sciences</a:t>
            </a:r>
            <a:endParaRPr lang="en-US" sz="1450" dirty="0"/>
          </a:p>
          <a:p>
            <a:pPr algn="l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leaders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7200" y="2615184"/>
            <a:ext cx="3977640" cy="5486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4A075C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Elevating the next generation of</a:t>
            </a:r>
            <a:endParaRPr lang="en-US" sz="1750" dirty="0"/>
          </a:p>
          <a:p>
            <a:pPr algn="l" indent="0" marL="0">
              <a:buNone/>
            </a:pPr>
            <a:r>
              <a:rPr lang="en-US" sz="1750" b="1" dirty="0">
                <a:solidFill>
                  <a:srgbClr val="4A075C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enterprise leaders at your company.</a:t>
            </a:r>
            <a:endParaRPr lang="en-US" sz="1750" dirty="0"/>
          </a:p>
        </p:txBody>
      </p:sp>
      <p:sp>
        <p:nvSpPr>
          <p:cNvPr id="12" name="Text 9"/>
          <p:cNvSpPr/>
          <p:nvPr/>
        </p:nvSpPr>
        <p:spPr>
          <a:xfrm>
            <a:off x="457200" y="3218688"/>
            <a:ext cx="3986784" cy="69494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buNone/>
            </a:pPr>
            <a:r>
              <a:rPr lang="en-US" sz="970" b="1" dirty="0">
                <a:solidFill>
                  <a:srgbClr val="5F58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AMPLIFY is a premium development experience designed to help emerging senior leaders strengthen public speaking and executive presence.</a:t>
            </a:r>
            <a:endParaRPr lang="en-US" sz="970" dirty="0"/>
          </a:p>
        </p:txBody>
      </p:sp>
      <p:sp>
        <p:nvSpPr>
          <p:cNvPr id="13" name="Shape 10"/>
          <p:cNvSpPr/>
          <p:nvPr/>
        </p:nvSpPr>
        <p:spPr>
          <a:xfrm>
            <a:off x="4727448" y="2615184"/>
            <a:ext cx="36576" cy="1024128"/>
          </a:xfrm>
          <a:prstGeom prst="rect">
            <a:avLst/>
          </a:prstGeom>
          <a:solidFill>
            <a:srgbClr val="C9A532"/>
          </a:solidFill>
          <a:ln w="12700">
            <a:solidFill>
              <a:srgbClr val="C9A532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919472" y="2633472"/>
            <a:ext cx="224028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buNone/>
            </a:pPr>
            <a:r>
              <a:rPr lang="en-US" sz="1080" b="1" dirty="0">
                <a:solidFill>
                  <a:srgbClr val="4A07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CORE ADVANTAGES</a:t>
            </a:r>
            <a:endParaRPr lang="en-US" sz="1080" dirty="0"/>
          </a:p>
        </p:txBody>
      </p:sp>
      <p:sp>
        <p:nvSpPr>
          <p:cNvPr id="15" name="Text 12"/>
          <p:cNvSpPr/>
          <p:nvPr/>
        </p:nvSpPr>
        <p:spPr>
          <a:xfrm>
            <a:off x="4873752" y="2898648"/>
            <a:ext cx="2212848" cy="6949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241F2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Speaking practice on 3 different panel events</a:t>
            </a:r>
            <a:endParaRPr lang="en-US" sz="1120" dirty="0"/>
          </a:p>
          <a:p>
            <a:pPr algn="l" indent="0" marL="0">
              <a:buNone/>
            </a:pPr>
            <a:r>
              <a:rPr lang="en-US" sz="1120" b="1" dirty="0">
                <a:solidFill>
                  <a:srgbClr val="241F2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Practitioner speaking coaches who know the life sciences stage</a:t>
            </a:r>
            <a:endParaRPr lang="en-US" sz="1120" dirty="0"/>
          </a:p>
        </p:txBody>
      </p:sp>
      <p:sp>
        <p:nvSpPr>
          <p:cNvPr id="16" name="Shape 13"/>
          <p:cNvSpPr/>
          <p:nvPr/>
        </p:nvSpPr>
        <p:spPr>
          <a:xfrm>
            <a:off x="457200" y="4160520"/>
            <a:ext cx="3328416" cy="0"/>
          </a:xfrm>
          <a:prstGeom prst="line">
            <a:avLst/>
          </a:prstGeom>
          <a:noFill/>
          <a:ln w="12700">
            <a:solidFill>
              <a:srgbClr val="DED2E2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14216" y="4160520"/>
            <a:ext cx="3300984" cy="0"/>
          </a:xfrm>
          <a:prstGeom prst="line">
            <a:avLst/>
          </a:prstGeom>
          <a:noFill/>
          <a:ln w="12700">
            <a:solidFill>
              <a:srgbClr val="DED2E2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7200" y="4288536"/>
            <a:ext cx="3154680" cy="28346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buNone/>
            </a:pPr>
            <a:r>
              <a:rPr lang="en-US" sz="1110" b="1" dirty="0">
                <a:solidFill>
                  <a:srgbClr val="4A07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Real-World Speaking Opportunities</a:t>
            </a:r>
            <a:endParaRPr lang="en-US" sz="1110" dirty="0"/>
          </a:p>
        </p:txBody>
      </p:sp>
      <p:sp>
        <p:nvSpPr>
          <p:cNvPr id="19" name="Shape 16"/>
          <p:cNvSpPr/>
          <p:nvPr/>
        </p:nvSpPr>
        <p:spPr>
          <a:xfrm>
            <a:off x="457200" y="4617720"/>
            <a:ext cx="3273552" cy="667512"/>
          </a:xfrm>
          <a:prstGeom prst="rect">
            <a:avLst/>
          </a:prstGeom>
          <a:solidFill>
            <a:srgbClr val="FBF8ED"/>
          </a:solidFill>
          <a:ln w="12700">
            <a:solidFill>
              <a:srgbClr val="FBF8ED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57200" y="4617720"/>
            <a:ext cx="36576" cy="667512"/>
          </a:xfrm>
          <a:prstGeom prst="rect">
            <a:avLst/>
          </a:prstGeom>
          <a:solidFill>
            <a:srgbClr val="C9A532"/>
          </a:solidFill>
          <a:ln w="12700">
            <a:solidFill>
              <a:srgbClr val="C9A532">
                <a:alpha val="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03504" y="4718304"/>
            <a:ext cx="2907792" cy="43891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buNone/>
            </a:pPr>
            <a:r>
              <a:rPr lang="en-US" sz="790" b="1" dirty="0">
                <a:solidFill>
                  <a:srgbClr val="241F2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RxVP panels</a:t>
            </a:r>
            <a:endParaRPr lang="en-US" sz="790" dirty="0"/>
          </a:p>
          <a:p>
            <a:pPr algn="l" indent="0" marL="0">
              <a:buNone/>
            </a:pPr>
            <a:r>
              <a:rPr lang="en-US" sz="790" b="1" dirty="0">
                <a:solidFill>
                  <a:srgbClr val="241F2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RxVP fireside chats</a:t>
            </a:r>
            <a:endParaRPr lang="en-US" sz="790" dirty="0"/>
          </a:p>
          <a:p>
            <a:pPr algn="l" indent="0" marL="0">
              <a:buNone/>
            </a:pPr>
            <a:r>
              <a:rPr lang="en-US" sz="790" b="1" dirty="0">
                <a:solidFill>
                  <a:srgbClr val="241F2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Strategic stakeholder engagements</a:t>
            </a:r>
            <a:endParaRPr lang="en-US" sz="790" dirty="0"/>
          </a:p>
          <a:p>
            <a:pPr algn="l" indent="0" marL="0">
              <a:buNone/>
            </a:pPr>
            <a:r>
              <a:rPr lang="en-US" sz="790" b="1" dirty="0">
                <a:solidFill>
                  <a:srgbClr val="241F2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Industry conferences</a:t>
            </a:r>
            <a:endParaRPr lang="en-US" sz="790" dirty="0"/>
          </a:p>
          <a:p>
            <a:pPr algn="l" indent="0" marL="0">
              <a:buNone/>
            </a:pPr>
            <a:r>
              <a:rPr lang="en-US" sz="790" b="1" dirty="0">
                <a:solidFill>
                  <a:srgbClr val="241F2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RxVP/ERG collaborations</a:t>
            </a:r>
            <a:endParaRPr lang="en-US" sz="790" dirty="0"/>
          </a:p>
        </p:txBody>
      </p:sp>
      <p:sp>
        <p:nvSpPr>
          <p:cNvPr id="22" name="Text 19"/>
          <p:cNvSpPr/>
          <p:nvPr/>
        </p:nvSpPr>
        <p:spPr>
          <a:xfrm>
            <a:off x="457200" y="5422392"/>
            <a:ext cx="3236976" cy="49377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buNone/>
            </a:pPr>
            <a:r>
              <a:rPr lang="en-US" sz="925" b="1" dirty="0">
                <a:solidFill>
                  <a:srgbClr val="5F58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Each participant receives three high-value speaking opportunities over six months. Experiences may be virtual or in person and designed for internal or external audiences.</a:t>
            </a:r>
            <a:endParaRPr lang="en-US" sz="925" dirty="0"/>
          </a:p>
        </p:txBody>
      </p:sp>
      <p:sp>
        <p:nvSpPr>
          <p:cNvPr id="23" name="Text 20"/>
          <p:cNvSpPr/>
          <p:nvPr/>
        </p:nvSpPr>
        <p:spPr>
          <a:xfrm>
            <a:off x="4014216" y="4288536"/>
            <a:ext cx="3154680" cy="28346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buNone/>
            </a:pPr>
            <a:r>
              <a:rPr lang="en-US" sz="1110" b="1" dirty="0">
                <a:solidFill>
                  <a:srgbClr val="4A07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Practitioner-Led Coaching</a:t>
            </a:r>
            <a:endParaRPr lang="en-US" sz="1110" dirty="0"/>
          </a:p>
        </p:txBody>
      </p:sp>
      <p:sp>
        <p:nvSpPr>
          <p:cNvPr id="24" name="Text 21"/>
          <p:cNvSpPr/>
          <p:nvPr/>
        </p:nvSpPr>
        <p:spPr>
          <a:xfrm>
            <a:off x="4014216" y="4645152"/>
            <a:ext cx="3182112" cy="53035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buNone/>
            </a:pPr>
            <a:r>
              <a:rPr lang="en-US" sz="925" b="1" dirty="0">
                <a:solidFill>
                  <a:srgbClr val="5F58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RxVP speaker coaches are accomplished, active voices in the life sciences industry who bring firsthand credibility, insight, and candid feedback to every session.</a:t>
            </a:r>
            <a:endParaRPr lang="en-US" sz="925" dirty="0"/>
          </a:p>
        </p:txBody>
      </p:sp>
      <p:sp>
        <p:nvSpPr>
          <p:cNvPr id="25" name="Text 22"/>
          <p:cNvSpPr/>
          <p:nvPr/>
        </p:nvSpPr>
        <p:spPr>
          <a:xfrm>
            <a:off x="4041648" y="5276088"/>
            <a:ext cx="3090672" cy="5577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10" b="1" dirty="0">
                <a:solidFill>
                  <a:srgbClr val="241F2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Speaker delivery and concise storytelling</a:t>
            </a:r>
            <a:endParaRPr lang="en-US" sz="910" dirty="0"/>
          </a:p>
          <a:p>
            <a:pPr algn="l" indent="0" marL="0">
              <a:buNone/>
            </a:pPr>
            <a:r>
              <a:rPr lang="en-US" sz="910" b="1" dirty="0">
                <a:solidFill>
                  <a:srgbClr val="241F2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Audience engagement and executive presence</a:t>
            </a:r>
            <a:endParaRPr lang="en-US" sz="910" dirty="0"/>
          </a:p>
          <a:p>
            <a:pPr algn="l" indent="0" marL="0">
              <a:buNone/>
            </a:pPr>
            <a:r>
              <a:rPr lang="en-US" sz="910" b="1" dirty="0">
                <a:solidFill>
                  <a:srgbClr val="241F2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Panelist, moderator, and interviewer readiness</a:t>
            </a:r>
            <a:endParaRPr lang="en-US" sz="910" dirty="0"/>
          </a:p>
        </p:txBody>
      </p:sp>
      <p:sp>
        <p:nvSpPr>
          <p:cNvPr id="26" name="Shape 23"/>
          <p:cNvSpPr/>
          <p:nvPr/>
        </p:nvSpPr>
        <p:spPr>
          <a:xfrm>
            <a:off x="457200" y="6080760"/>
            <a:ext cx="6858000" cy="3319272"/>
          </a:xfrm>
          <a:prstGeom prst="rect">
            <a:avLst/>
          </a:prstGeom>
          <a:solidFill>
            <a:srgbClr val="FBF8ED"/>
          </a:solidFill>
          <a:ln w="12700">
            <a:solidFill>
              <a:srgbClr val="D7C07A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03504" y="6217920"/>
            <a:ext cx="329184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4A07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PRACTITIONER COACHES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03504" y="6510528"/>
            <a:ext cx="3063240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4A07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Deepa Desai</a:t>
            </a:r>
            <a:endParaRPr lang="en-US" sz="1350" dirty="0"/>
          </a:p>
        </p:txBody>
      </p:sp>
      <p:sp>
        <p:nvSpPr>
          <p:cNvPr id="29" name="Shape 26"/>
          <p:cNvSpPr/>
          <p:nvPr/>
        </p:nvSpPr>
        <p:spPr>
          <a:xfrm>
            <a:off x="603504" y="6830568"/>
            <a:ext cx="2999232" cy="0"/>
          </a:xfrm>
          <a:prstGeom prst="line">
            <a:avLst/>
          </a:prstGeom>
          <a:noFill/>
          <a:ln w="12700">
            <a:solidFill>
              <a:srgbClr val="DED2E2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03504" y="6922008"/>
            <a:ext cx="3063240" cy="21488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756D7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Dr. Deepa Desai is a globally recognized healthcare executive, public speaker, leadership strategist, and executive presence advisor with more than 20 years of experience leading transformation across the life sciences sector.</a:t>
            </a:r>
            <a:endParaRPr lang="en-US" sz="720" dirty="0"/>
          </a:p>
          <a:p>
            <a:pPr algn="l" indent="0" marL="0">
              <a:buNone/>
            </a:pPr>
            <a:endParaRPr lang="en-US" sz="720" dirty="0"/>
          </a:p>
          <a:p>
            <a:pPr algn="l" indent="0" marL="0">
              <a:buNone/>
            </a:pPr>
            <a:r>
              <a:rPr lang="en-US" sz="720" b="1" dirty="0">
                <a:solidFill>
                  <a:srgbClr val="756D7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She serves as Founder and CEO of D Cube Consultancy, Head of Asia Pacific for RxVP, Global Board Director at the Healthcare Businesswomen's Association, and has held numerous VP roles in major corporations.</a:t>
            </a:r>
            <a:endParaRPr lang="en-US" sz="720" dirty="0"/>
          </a:p>
          <a:p>
            <a:pPr algn="l" indent="0" marL="0">
              <a:buNone/>
            </a:pPr>
            <a:endParaRPr lang="en-US" sz="720" dirty="0"/>
          </a:p>
          <a:p>
            <a:pPr algn="l" indent="0" marL="0">
              <a:buNone/>
            </a:pPr>
            <a:r>
              <a:rPr lang="en-US" sz="720" b="1" dirty="0">
                <a:solidFill>
                  <a:srgbClr val="756D7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Through these leadership roles, she helps emerging leaders strengthen executive presence, elevate strategic communication, and speak with confidence, credibility, and influence.</a:t>
            </a:r>
            <a:endParaRPr lang="en-US" sz="720" dirty="0"/>
          </a:p>
          <a:p>
            <a:pPr algn="l" indent="0" marL="0">
              <a:buNone/>
            </a:pPr>
            <a:endParaRPr lang="en-US" sz="720" dirty="0"/>
          </a:p>
          <a:p>
            <a:pPr algn="l" indent="0" marL="0">
              <a:buNone/>
            </a:pPr>
            <a:r>
              <a:rPr lang="en-US" sz="720" b="1" dirty="0">
                <a:solidFill>
                  <a:srgbClr val="756D7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Deepa is a frequent speaker at life sciences conferences and leadership forums across the United States and Europe. She has also expanded the Healthcare Businesswomen’s Association in India to a growing community of 700 members by building panels, summits, and chapters across the country.</a:t>
            </a:r>
            <a:endParaRPr lang="en-US" sz="720" dirty="0"/>
          </a:p>
        </p:txBody>
      </p:sp>
      <p:sp>
        <p:nvSpPr>
          <p:cNvPr id="31" name="Text 28"/>
          <p:cNvSpPr/>
          <p:nvPr/>
        </p:nvSpPr>
        <p:spPr>
          <a:xfrm>
            <a:off x="3877056" y="6510528"/>
            <a:ext cx="3063240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4A07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Bonnie Lappin</a:t>
            </a:r>
            <a:endParaRPr lang="en-US" sz="1350" dirty="0"/>
          </a:p>
        </p:txBody>
      </p:sp>
      <p:sp>
        <p:nvSpPr>
          <p:cNvPr id="32" name="Shape 29"/>
          <p:cNvSpPr/>
          <p:nvPr/>
        </p:nvSpPr>
        <p:spPr>
          <a:xfrm>
            <a:off x="3877056" y="6830568"/>
            <a:ext cx="2999232" cy="0"/>
          </a:xfrm>
          <a:prstGeom prst="line">
            <a:avLst/>
          </a:prstGeom>
          <a:noFill/>
          <a:ln w="12700">
            <a:solidFill>
              <a:srgbClr val="DED2E2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3877056" y="6922008"/>
            <a:ext cx="3063240" cy="21488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756D7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Bonnie Lappin co-founded the Ambassador Program for the Healthcare Businesswomen's Association in 2013.</a:t>
            </a:r>
            <a:endParaRPr lang="en-US" sz="720" dirty="0"/>
          </a:p>
          <a:p>
            <a:pPr algn="l" indent="0" marL="0">
              <a:buNone/>
            </a:pPr>
            <a:endParaRPr lang="en-US" sz="720" dirty="0"/>
          </a:p>
          <a:p>
            <a:pPr algn="l" indent="0" marL="0">
              <a:buNone/>
            </a:pPr>
            <a:r>
              <a:rPr lang="en-US" sz="720" b="1" dirty="0">
                <a:solidFill>
                  <a:srgbClr val="756D7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Designed as a global leadership development program for HBA corporate partners, it grew under her leadership from 2013 to 2025 into a signature, often life-changing experience for more than 11,000 participants.</a:t>
            </a:r>
            <a:endParaRPr lang="en-US" sz="720" dirty="0"/>
          </a:p>
          <a:p>
            <a:pPr algn="l" indent="0" marL="0">
              <a:buNone/>
            </a:pPr>
            <a:endParaRPr lang="en-US" sz="720" dirty="0"/>
          </a:p>
          <a:p>
            <a:pPr algn="l" indent="0" marL="0">
              <a:buNone/>
            </a:pPr>
            <a:r>
              <a:rPr lang="en-US" sz="720" b="1" dirty="0">
                <a:solidFill>
                  <a:srgbClr val="756D7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Over those 12 years, Bonnie spoke frequently at life sciences companies across Austria, Belgium, Canada, France, Germany, India, Ireland, Italy, Japan, Malaysia, Singapore, Spain, Switzerland, and the United Kingdom.</a:t>
            </a:r>
            <a:endParaRPr lang="en-US" sz="720" dirty="0"/>
          </a:p>
          <a:p>
            <a:pPr algn="l" indent="0" marL="0">
              <a:buNone/>
            </a:pPr>
            <a:endParaRPr lang="en-US" sz="720" dirty="0"/>
          </a:p>
          <a:p>
            <a:pPr algn="l" indent="0" marL="0">
              <a:buNone/>
            </a:pPr>
            <a:r>
              <a:rPr lang="en-US" sz="720" b="1" dirty="0">
                <a:solidFill>
                  <a:srgbClr val="756D7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She also led panel development, launch and graduation events, and coached hundreds of panelists and moderators.</a:t>
            </a:r>
            <a:endParaRPr lang="en-US" sz="720" dirty="0"/>
          </a:p>
          <a:p>
            <a:pPr algn="l" indent="0" marL="0">
              <a:buNone/>
            </a:pPr>
            <a:endParaRPr lang="en-US" sz="720" dirty="0"/>
          </a:p>
          <a:p>
            <a:pPr algn="l" indent="0" marL="0">
              <a:buNone/>
            </a:pPr>
            <a:r>
              <a:rPr lang="en-US" sz="720" b="1" dirty="0">
                <a:solidFill>
                  <a:srgbClr val="756D7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Today, Bonnie continues this work through RxVP, a global speakers bureau that curates panels for experienced and emerging speakers.</a:t>
            </a:r>
            <a:endParaRPr lang="en-US" sz="7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1060704"/>
          </a:xfrm>
          <a:prstGeom prst="rect">
            <a:avLst/>
          </a:prstGeom>
          <a:solidFill>
            <a:srgbClr val="3B0648"/>
          </a:solidFill>
          <a:ln w="12700">
            <a:solidFill>
              <a:srgbClr val="3B0648">
                <a:alpha val="0"/>
              </a:srgbClr>
            </a:solidFill>
            <a:prstDash val="solid"/>
          </a:ln>
        </p:spPr>
      </p:sp>
      <p:pic>
        <p:nvPicPr>
          <p:cNvPr id="3" name="Image 0" descr="/Users/gabriel/Documents/3 - Perso/Finances/Dev/clients-playground/public/clients/rxvp/assets/images/rxvp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" y="246888"/>
            <a:ext cx="987552" cy="5669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74920" y="310896"/>
            <a:ext cx="219456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r" indent="0" marL="0">
              <a:buNone/>
            </a:pPr>
            <a:r>
              <a:rPr lang="en-US" sz="840" b="1" dirty="0">
                <a:solidFill>
                  <a:srgbClr val="E6CF7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DETAILED PROGRAM INFORMATION</a:t>
            </a:r>
            <a:endParaRPr lang="en-US" sz="840" dirty="0"/>
          </a:p>
        </p:txBody>
      </p:sp>
      <p:sp>
        <p:nvSpPr>
          <p:cNvPr id="5" name="Text 2"/>
          <p:cNvSpPr/>
          <p:nvPr/>
        </p:nvSpPr>
        <p:spPr>
          <a:xfrm>
            <a:off x="512064" y="1353312"/>
            <a:ext cx="6355080" cy="7132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buNone/>
            </a:pPr>
            <a:r>
              <a:rPr lang="en-US" sz="1920" b="1" dirty="0">
                <a:solidFill>
                  <a:srgbClr val="4A075C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Participants leave the program better prepared to communicate with executive-level confidence, represent the organization with thought leadership impact, and navigate high-visibility forums with agility.</a:t>
            </a:r>
            <a:endParaRPr lang="en-US" sz="1920" dirty="0"/>
          </a:p>
        </p:txBody>
      </p:sp>
      <p:sp>
        <p:nvSpPr>
          <p:cNvPr id="6" name="Text 3"/>
          <p:cNvSpPr/>
          <p:nvPr/>
        </p:nvSpPr>
        <p:spPr>
          <a:xfrm>
            <a:off x="512064" y="2578608"/>
            <a:ext cx="2971800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4A07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PROGRAM OBJECTIVES</a:t>
            </a:r>
            <a:endParaRPr lang="en-US" sz="980" dirty="0"/>
          </a:p>
        </p:txBody>
      </p:sp>
      <p:sp>
        <p:nvSpPr>
          <p:cNvPr id="7" name="Text 4"/>
          <p:cNvSpPr/>
          <p:nvPr/>
        </p:nvSpPr>
        <p:spPr>
          <a:xfrm>
            <a:off x="512064" y="2889504"/>
            <a:ext cx="3246120" cy="20116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890" b="1" dirty="0">
                <a:solidFill>
                  <a:srgbClr val="241F2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Communicate with executive-level confidence and credibility in internal meetings</a:t>
            </a:r>
            <a:endParaRPr lang="en-US" sz="890" dirty="0"/>
          </a:p>
          <a:p>
            <a:pPr algn="l" indent="0" marL="0">
              <a:buNone/>
            </a:pPr>
            <a:r>
              <a:rPr lang="en-US" sz="890" b="1" dirty="0">
                <a:solidFill>
                  <a:srgbClr val="241F2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Strengthen leadership presence in high-visibility forums</a:t>
            </a:r>
            <a:endParaRPr lang="en-US" sz="890" dirty="0"/>
          </a:p>
          <a:p>
            <a:pPr algn="l" indent="0" marL="0">
              <a:buNone/>
            </a:pPr>
            <a:r>
              <a:rPr lang="en-US" sz="890" b="1" dirty="0">
                <a:solidFill>
                  <a:srgbClr val="241F2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Deliver clear, concise, and compelling messages under pressure</a:t>
            </a:r>
            <a:endParaRPr lang="en-US" sz="890" dirty="0"/>
          </a:p>
          <a:p>
            <a:pPr algn="l" indent="0" marL="0">
              <a:buNone/>
            </a:pPr>
            <a:r>
              <a:rPr lang="en-US" sz="890" b="1" dirty="0">
                <a:solidFill>
                  <a:srgbClr val="241F2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Engage diverse audiences with authenticity and authority</a:t>
            </a:r>
            <a:endParaRPr lang="en-US" sz="890" dirty="0"/>
          </a:p>
          <a:p>
            <a:pPr algn="l" indent="0" marL="0">
              <a:buNone/>
            </a:pPr>
            <a:r>
              <a:rPr lang="en-US" sz="890" b="1" dirty="0">
                <a:solidFill>
                  <a:srgbClr val="241F2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Represent your company with thought leadership impact</a:t>
            </a:r>
            <a:endParaRPr lang="en-US" sz="890" dirty="0"/>
          </a:p>
          <a:p>
            <a:pPr algn="l" indent="0" marL="0">
              <a:buNone/>
            </a:pPr>
            <a:r>
              <a:rPr lang="en-US" sz="890" b="1" dirty="0">
                <a:solidFill>
                  <a:srgbClr val="241F2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Navigate panel discussions and live Q&amp;A with agility and confidence</a:t>
            </a:r>
            <a:endParaRPr lang="en-US" sz="890" dirty="0"/>
          </a:p>
        </p:txBody>
      </p:sp>
      <p:sp>
        <p:nvSpPr>
          <p:cNvPr id="8" name="Text 5"/>
          <p:cNvSpPr/>
          <p:nvPr/>
        </p:nvSpPr>
        <p:spPr>
          <a:xfrm>
            <a:off x="4059936" y="2578608"/>
            <a:ext cx="3017520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4A07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SIGNATURE DEVELOPMENT AREAS</a:t>
            </a:r>
            <a:endParaRPr lang="en-US" sz="980" dirty="0"/>
          </a:p>
        </p:txBody>
      </p:sp>
      <p:sp>
        <p:nvSpPr>
          <p:cNvPr id="9" name="Text 6"/>
          <p:cNvSpPr/>
          <p:nvPr/>
        </p:nvSpPr>
        <p:spPr>
          <a:xfrm>
            <a:off x="4059936" y="2889504"/>
            <a:ext cx="306324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4A07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Executive Presence Mastery</a:t>
            </a:r>
            <a:endParaRPr lang="en-US" sz="980" dirty="0"/>
          </a:p>
        </p:txBody>
      </p:sp>
      <p:sp>
        <p:nvSpPr>
          <p:cNvPr id="10" name="Text 7"/>
          <p:cNvSpPr/>
          <p:nvPr/>
        </p:nvSpPr>
        <p:spPr>
          <a:xfrm>
            <a:off x="4059936" y="3127248"/>
            <a:ext cx="3063240" cy="40233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buNone/>
            </a:pPr>
            <a:r>
              <a:rPr lang="en-US" sz="890" b="1" dirty="0">
                <a:solidFill>
                  <a:srgbClr val="5F58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Participants strengthen the core qualities that help leaders command attention, build trust, and inspire confidence.</a:t>
            </a:r>
            <a:endParaRPr lang="en-US" sz="890" dirty="0"/>
          </a:p>
        </p:txBody>
      </p:sp>
      <p:sp>
        <p:nvSpPr>
          <p:cNvPr id="11" name="Text 8"/>
          <p:cNvSpPr/>
          <p:nvPr/>
        </p:nvSpPr>
        <p:spPr>
          <a:xfrm>
            <a:off x="4059936" y="3749040"/>
            <a:ext cx="306324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4A07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Strategic Public Speaking Excellence</a:t>
            </a:r>
            <a:endParaRPr lang="en-US" sz="980" dirty="0"/>
          </a:p>
        </p:txBody>
      </p:sp>
      <p:sp>
        <p:nvSpPr>
          <p:cNvPr id="12" name="Text 9"/>
          <p:cNvSpPr/>
          <p:nvPr/>
        </p:nvSpPr>
        <p:spPr>
          <a:xfrm>
            <a:off x="4059936" y="3986784"/>
            <a:ext cx="3063240" cy="40233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buNone/>
            </a:pPr>
            <a:r>
              <a:rPr lang="en-US" sz="890" b="1" dirty="0">
                <a:solidFill>
                  <a:srgbClr val="5F58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Focused coaching helps participants turn ideas into compelling messages that resonate and move audiences to action.</a:t>
            </a:r>
            <a:endParaRPr lang="en-US" sz="890" dirty="0"/>
          </a:p>
        </p:txBody>
      </p:sp>
      <p:sp>
        <p:nvSpPr>
          <p:cNvPr id="13" name="Text 10"/>
          <p:cNvSpPr/>
          <p:nvPr/>
        </p:nvSpPr>
        <p:spPr>
          <a:xfrm>
            <a:off x="4059936" y="4608576"/>
            <a:ext cx="306324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4A07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Panel and Fireside Chat Readiness</a:t>
            </a:r>
            <a:endParaRPr lang="en-US" sz="980" dirty="0"/>
          </a:p>
        </p:txBody>
      </p:sp>
      <p:sp>
        <p:nvSpPr>
          <p:cNvPr id="14" name="Text 11"/>
          <p:cNvSpPr/>
          <p:nvPr/>
        </p:nvSpPr>
        <p:spPr>
          <a:xfrm>
            <a:off x="4059936" y="4846320"/>
            <a:ext cx="3063240" cy="40233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buNone/>
            </a:pPr>
            <a:r>
              <a:rPr lang="en-US" sz="890" b="1" dirty="0">
                <a:solidFill>
                  <a:srgbClr val="5F586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Participants gain practical tools to show up with poise, insight, and agility in high-visibility speaking moments.</a:t>
            </a:r>
            <a:endParaRPr lang="en-US" sz="890" dirty="0"/>
          </a:p>
        </p:txBody>
      </p:sp>
      <p:sp>
        <p:nvSpPr>
          <p:cNvPr id="15" name="Shape 12"/>
          <p:cNvSpPr/>
          <p:nvPr/>
        </p:nvSpPr>
        <p:spPr>
          <a:xfrm>
            <a:off x="512064" y="5577840"/>
            <a:ext cx="6748272" cy="0"/>
          </a:xfrm>
          <a:prstGeom prst="line">
            <a:avLst/>
          </a:prstGeom>
          <a:noFill/>
          <a:ln w="12700">
            <a:solidFill>
              <a:srgbClr val="DED2E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12064" y="5779008"/>
            <a:ext cx="29718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4A07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DELIVERY SKILLS</a:t>
            </a:r>
            <a:endParaRPr lang="en-US" sz="980" dirty="0"/>
          </a:p>
        </p:txBody>
      </p:sp>
      <p:sp>
        <p:nvSpPr>
          <p:cNvPr id="17" name="Text 14"/>
          <p:cNvSpPr/>
          <p:nvPr/>
        </p:nvSpPr>
        <p:spPr>
          <a:xfrm>
            <a:off x="512064" y="6053328"/>
            <a:ext cx="3200400" cy="960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10" b="1" dirty="0">
                <a:solidFill>
                  <a:srgbClr val="241F2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Speaker delivery</a:t>
            </a:r>
            <a:endParaRPr lang="en-US" sz="910" dirty="0"/>
          </a:p>
          <a:p>
            <a:pPr algn="l" indent="0" marL="0">
              <a:buNone/>
            </a:pPr>
            <a:r>
              <a:rPr lang="en-US" sz="910" b="1" dirty="0">
                <a:solidFill>
                  <a:srgbClr val="241F2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Concise storytelling</a:t>
            </a:r>
            <a:endParaRPr lang="en-US" sz="910" dirty="0"/>
          </a:p>
          <a:p>
            <a:pPr algn="l" indent="0" marL="0">
              <a:buNone/>
            </a:pPr>
            <a:r>
              <a:rPr lang="en-US" sz="910" b="1" dirty="0">
                <a:solidFill>
                  <a:srgbClr val="241F2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Audience engagement</a:t>
            </a:r>
            <a:endParaRPr lang="en-US" sz="910" dirty="0"/>
          </a:p>
        </p:txBody>
      </p:sp>
      <p:sp>
        <p:nvSpPr>
          <p:cNvPr id="18" name="Text 15"/>
          <p:cNvSpPr/>
          <p:nvPr/>
        </p:nvSpPr>
        <p:spPr>
          <a:xfrm>
            <a:off x="3886200" y="6053328"/>
            <a:ext cx="3374136" cy="9601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10" b="1" dirty="0">
                <a:solidFill>
                  <a:srgbClr val="241F2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Appropriate self-effacing humor</a:t>
            </a:r>
            <a:endParaRPr lang="en-US" sz="910" dirty="0"/>
          </a:p>
          <a:p>
            <a:pPr algn="l" indent="0" marL="0">
              <a:buNone/>
            </a:pPr>
            <a:r>
              <a:rPr lang="en-US" sz="910" b="1" dirty="0">
                <a:solidFill>
                  <a:srgbClr val="241F2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Engagement with panelists, moderators, and interviewers</a:t>
            </a:r>
            <a:endParaRPr lang="en-US" sz="910" dirty="0"/>
          </a:p>
          <a:p>
            <a:pPr algn="l" indent="0" marL="0">
              <a:buNone/>
            </a:pPr>
            <a:r>
              <a:rPr lang="en-US" sz="910" b="1" dirty="0">
                <a:solidFill>
                  <a:srgbClr val="241F2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Enhanced executive presence</a:t>
            </a:r>
            <a:endParaRPr lang="en-US" sz="910" dirty="0"/>
          </a:p>
        </p:txBody>
      </p:sp>
      <p:sp>
        <p:nvSpPr>
          <p:cNvPr id="19" name="Shape 16"/>
          <p:cNvSpPr/>
          <p:nvPr/>
        </p:nvSpPr>
        <p:spPr>
          <a:xfrm>
            <a:off x="512064" y="7269480"/>
            <a:ext cx="6748272" cy="1417320"/>
          </a:xfrm>
          <a:prstGeom prst="rect">
            <a:avLst/>
          </a:prstGeom>
          <a:solidFill>
            <a:srgbClr val="F7F0F8"/>
          </a:solidFill>
          <a:ln w="12700">
            <a:solidFill>
              <a:srgbClr val="F7F0F8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12064" y="7269480"/>
            <a:ext cx="36576" cy="1417320"/>
          </a:xfrm>
          <a:prstGeom prst="rect">
            <a:avLst/>
          </a:prstGeom>
          <a:solidFill>
            <a:srgbClr val="C9A532"/>
          </a:solidFill>
          <a:ln w="12700">
            <a:solidFill>
              <a:srgbClr val="C9A532">
                <a:alpha val="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31520" y="7443216"/>
            <a:ext cx="594360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4A075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PROGRAM DESIGN CAN BE CUSTOMIZED BASED ON:</a:t>
            </a:r>
            <a:endParaRPr lang="en-US" sz="980" dirty="0"/>
          </a:p>
        </p:txBody>
      </p:sp>
      <p:sp>
        <p:nvSpPr>
          <p:cNvPr id="22" name="Text 19"/>
          <p:cNvSpPr/>
          <p:nvPr/>
        </p:nvSpPr>
        <p:spPr>
          <a:xfrm>
            <a:off x="731520" y="7717536"/>
            <a:ext cx="3200400" cy="8778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41F2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Cohort size</a:t>
            </a:r>
            <a:endParaRPr lang="en-US" sz="900" dirty="0"/>
          </a:p>
          <a:p>
            <a:pPr algn="l" indent="0" marL="0">
              <a:buNone/>
            </a:pPr>
            <a:r>
              <a:rPr lang="en-US" sz="900" b="1" dirty="0">
                <a:solidFill>
                  <a:srgbClr val="241F2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Audience composition and geography</a:t>
            </a:r>
            <a:endParaRPr lang="en-US" sz="900" dirty="0"/>
          </a:p>
          <a:p>
            <a:pPr algn="l" indent="0" marL="0">
              <a:buNone/>
            </a:pPr>
            <a:r>
              <a:rPr lang="en-US" sz="900" b="1" dirty="0">
                <a:solidFill>
                  <a:srgbClr val="241F2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Strategic panel themes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3886200" y="7717536"/>
            <a:ext cx="3291840" cy="8778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41F2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Number and cadence of speaking opportunities</a:t>
            </a:r>
            <a:endParaRPr lang="en-US" sz="900" dirty="0"/>
          </a:p>
          <a:p>
            <a:pPr algn="l" indent="0" marL="0">
              <a:buNone/>
            </a:pPr>
            <a:r>
              <a:rPr lang="en-US" sz="900" b="1" dirty="0">
                <a:solidFill>
                  <a:srgbClr val="241F2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Defined success metrics and developmental outcomes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512064" y="9528048"/>
            <a:ext cx="6748272" cy="0"/>
          </a:xfrm>
          <a:prstGeom prst="line">
            <a:avLst/>
          </a:prstGeom>
          <a:noFill/>
          <a:ln w="12700">
            <a:solidFill>
              <a:srgbClr val="DED2E2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12064" y="9628632"/>
            <a:ext cx="1280160" cy="1280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l" indent="0" marL="0">
              <a:buNone/>
            </a:pPr>
            <a:r>
              <a:rPr lang="en-US" sz="730" b="1" dirty="0">
                <a:solidFill>
                  <a:srgbClr val="756D7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RxVP</a:t>
            </a:r>
            <a:endParaRPr lang="en-US" sz="730" dirty="0"/>
          </a:p>
        </p:txBody>
      </p:sp>
      <p:sp>
        <p:nvSpPr>
          <p:cNvPr id="26" name="Text 23"/>
          <p:cNvSpPr/>
          <p:nvPr/>
        </p:nvSpPr>
        <p:spPr>
          <a:xfrm>
            <a:off x="3127248" y="9628632"/>
            <a:ext cx="4133088" cy="12801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r" indent="0" marL="0">
              <a:buNone/>
            </a:pPr>
            <a:r>
              <a:rPr lang="en-US" sz="730" b="1" dirty="0">
                <a:solidFill>
                  <a:srgbClr val="756D7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PUBLIC SPEAKING AND EXECUTIVE PRESENCE COACHING</a:t>
            </a:r>
            <a:endParaRPr lang="en-US" sz="7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ormorant Garamon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ontserra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RxVP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RxVP AMPLIFY Program</dc:title>
  <dc:subject>AMPLIFY public speaking and executive presence coaching</dc:subject>
  <dc:creator>RxVP</dc:creator>
  <cp:lastModifiedBy>RxVP</cp:lastModifiedBy>
  <cp:revision>1</cp:revision>
  <dcterms:created xsi:type="dcterms:W3CDTF">2026-05-20T10:59:42Z</dcterms:created>
  <dcterms:modified xsi:type="dcterms:W3CDTF">2026-05-20T10:59:42Z</dcterms:modified>
</cp:coreProperties>
</file>